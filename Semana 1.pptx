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E293B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194560" y="4206240"/>
            <a:ext cx="4754880" cy="4754880"/>
          </a:xfrm>
          <a:prstGeom prst="ellipse">
            <a:avLst/>
          </a:prstGeom>
          <a:solidFill>
            <a:srgbClr val="1E293B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EM DESENVOLVIMENTO DE SISTEMAS  ·  SEMANA 15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Missão </a:t>
            </a:r>
            <a:pPr indent="0" marL="0">
              <a:buNone/>
            </a:pPr>
            <a:r>
              <a:rPr lang="en-US" sz="5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TechNova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Estilização e performance de páginas web — layout, qualidade de código e velocidade em um único projeto.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251960"/>
            <a:ext cx="306324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4416552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0" name="Image 0" descr="/home/claude/icon-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4535424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72768" y="425196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114800" y="4251960"/>
            <a:ext cx="306324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79392" y="4416552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4" name="Image 1" descr="/home/claude/icon-too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264" y="4535424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64608" y="425196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Prettier · ESLint · Babel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7406640" y="4251960"/>
            <a:ext cx="306324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571232" y="4416552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8" name="Image 2" descr="/home/claude/icon-spe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104" y="453542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425196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aula  ·  Componente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MISSÃO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TechNova precisa da nossa ajuda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reclamações reais de clientes viraram os três sprints da nossa semana.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1298448"/>
          </a:xfrm>
          <a:prstGeom prst="roundRect">
            <a:avLst>
              <a:gd name="adj" fmla="val 7042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86584"/>
            <a:ext cx="640080" cy="640080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7" name="Image 0" descr="/home/claude/icon-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553005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203704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celular, o menu cobre o conteúdo e fica tudo bagunçado.”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37360" y="277063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resolvemos com CSS Grid (Sprint 1)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538728"/>
            <a:ext cx="11064240" cy="1298448"/>
          </a:xfrm>
          <a:prstGeom prst="roundRect">
            <a:avLst>
              <a:gd name="adj" fmla="val 7042"/>
            </a:avLst>
          </a:prstGeom>
          <a:solidFill>
            <a:srgbClr val="1E293B"/>
          </a:solidFill>
          <a:ln/>
        </p:spPr>
      </p:sp>
      <p:sp>
        <p:nvSpPr>
          <p:cNvPr id="11" name="Shape 8"/>
          <p:cNvSpPr/>
          <p:nvPr/>
        </p:nvSpPr>
        <p:spPr>
          <a:xfrm>
            <a:off x="822960" y="3867912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2" name="Image 1" descr="/home/claude/icon-bu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1" y="4034333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37360" y="368503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estagiário anterior saiu e ninguém entende o código dele.”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737360" y="42519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resolvemos com Prettier, ESLint e Babel (Sprint 2)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5020056"/>
            <a:ext cx="11064240" cy="1298448"/>
          </a:xfrm>
          <a:prstGeom prst="roundRect">
            <a:avLst>
              <a:gd name="adj" fmla="val 7042"/>
            </a:avLst>
          </a:prstGeom>
          <a:solidFill>
            <a:srgbClr val="1E293B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5349240"/>
            <a:ext cx="640080" cy="64008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7" name="Image 2" descr="/home/claude/icon-spe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551566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37360" y="51663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site demora demais para abrir no 4G do ônibus.”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737360" y="573328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resolvemos com Lazy loading e minificação (Sprint 3)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missão, três sprints, um desafio final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1440180" y="2240280"/>
            <a:ext cx="822960" cy="82296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6" name="Image 0" descr="/home/claude/icon-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4150" y="245425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2461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35661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Fundação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77240" y="416052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 e layout responsivo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136392" y="33375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3374136" y="19202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E293B"/>
          </a:solidFill>
          <a:ln/>
        </p:spPr>
      </p:sp>
      <p:sp>
        <p:nvSpPr>
          <p:cNvPr id="12" name="Shape 9"/>
          <p:cNvSpPr/>
          <p:nvPr/>
        </p:nvSpPr>
        <p:spPr>
          <a:xfrm>
            <a:off x="4265676" y="2240280"/>
            <a:ext cx="822960" cy="82296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3" name="Image 1" descr="/home/claude/icon-too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646" y="2454250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11296" y="32461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511296" y="35661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3602736" y="416052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Prettier, ESLint e Babel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961888" y="33375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6199632" y="19202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E293B"/>
          </a:solidFill>
          <a:ln/>
        </p:spPr>
      </p:sp>
      <p:sp>
        <p:nvSpPr>
          <p:cNvPr id="19" name="Shape 15"/>
          <p:cNvSpPr/>
          <p:nvPr/>
        </p:nvSpPr>
        <p:spPr>
          <a:xfrm>
            <a:off x="7091172" y="2240280"/>
            <a:ext cx="822960" cy="82296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20" name="Image 2" descr="/home/claude/icon-spe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5142" y="2454250"/>
            <a:ext cx="395021" cy="39502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36792" y="32461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336792" y="35661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Velocidade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6428232" y="416052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loading, minificação e Lighthouse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787384" y="33375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5" name="Shape 20"/>
          <p:cNvSpPr/>
          <p:nvPr/>
        </p:nvSpPr>
        <p:spPr>
          <a:xfrm>
            <a:off x="9025128" y="19202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E293B"/>
          </a:solidFill>
          <a:ln/>
        </p:spPr>
      </p:sp>
      <p:sp>
        <p:nvSpPr>
          <p:cNvPr id="26" name="Shape 21"/>
          <p:cNvSpPr/>
          <p:nvPr/>
        </p:nvSpPr>
        <p:spPr>
          <a:xfrm>
            <a:off x="9916668" y="2240280"/>
            <a:ext cx="822960" cy="822960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27" name="Image 3" descr="/home/claude/icon-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0638" y="2454250"/>
            <a:ext cx="395021" cy="39502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62288" y="32461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9162288" y="35661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Day</a:t>
            </a:r>
            <a:endParaRPr lang="en-US" sz="2000" dirty="0"/>
          </a:p>
        </p:txBody>
      </p:sp>
      <p:sp>
        <p:nvSpPr>
          <p:cNvPr id="30" name="Text 24"/>
          <p:cNvSpPr/>
          <p:nvPr/>
        </p:nvSpPr>
        <p:spPr>
          <a:xfrm>
            <a:off x="9253728" y="416052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integrador em duplas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sprint reaproveita o MESMO projeto da TechNova — o código evolui ao longo da semana, em vez de recomeçar do zero.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1920240"/>
            <a:ext cx="5120640" cy="5120640"/>
          </a:xfrm>
          <a:prstGeom prst="ellipse">
            <a:avLst/>
          </a:prstGeom>
          <a:solidFill>
            <a:srgbClr val="16212F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331720"/>
            <a:ext cx="1371600" cy="137160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5" name="Image 0" descr="/home/claude/icon-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68833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· FUNDAÇÃO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425196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responsivo com CSS Grid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22960" y="5166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Construindo o esqueleto da página inicial da TechNova.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· CONCEITO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Grid — e não Flexbox ou tabelas?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Flexbox — uma prateleira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itens em UMA fileira por vez — linha OU coluna. Ideal para organizar itens dentro de um único bloco, como os botões de um menu.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886200"/>
            <a:ext cx="914400" cy="731520"/>
          </a:xfrm>
          <a:prstGeom prst="roundRect">
            <a:avLst>
              <a:gd name="adj" fmla="val 7500"/>
            </a:avLst>
          </a:prstGeom>
          <a:solidFill>
            <a:srgbClr val="38BDF8"/>
          </a:solidFill>
          <a:ln/>
        </p:spPr>
      </p:sp>
      <p:sp>
        <p:nvSpPr>
          <p:cNvPr id="8" name="Shape 6"/>
          <p:cNvSpPr/>
          <p:nvPr/>
        </p:nvSpPr>
        <p:spPr>
          <a:xfrm>
            <a:off x="1874520" y="3886200"/>
            <a:ext cx="914400" cy="731520"/>
          </a:xfrm>
          <a:prstGeom prst="roundRect">
            <a:avLst>
              <a:gd name="adj" fmla="val 7500"/>
            </a:avLst>
          </a:prstGeom>
          <a:solidFill>
            <a:srgbClr val="38BDF8"/>
          </a:solidFill>
          <a:ln/>
        </p:spPr>
      </p:sp>
      <p:sp>
        <p:nvSpPr>
          <p:cNvPr id="9" name="Shape 7"/>
          <p:cNvSpPr/>
          <p:nvPr/>
        </p:nvSpPr>
        <p:spPr>
          <a:xfrm>
            <a:off x="2926080" y="3886200"/>
            <a:ext cx="914400" cy="731520"/>
          </a:xfrm>
          <a:prstGeom prst="roundRect">
            <a:avLst>
              <a:gd name="adj" fmla="val 7500"/>
            </a:avLst>
          </a:prstGeom>
          <a:solidFill>
            <a:srgbClr val="38BDF8"/>
          </a:solidFill>
          <a:ln/>
        </p:spPr>
      </p:sp>
      <p:sp>
        <p:nvSpPr>
          <p:cNvPr id="10" name="Shape 8"/>
          <p:cNvSpPr/>
          <p:nvPr/>
        </p:nvSpPr>
        <p:spPr>
          <a:xfrm>
            <a:off x="3977640" y="3886200"/>
            <a:ext cx="914400" cy="731520"/>
          </a:xfrm>
          <a:prstGeom prst="roundRect">
            <a:avLst>
              <a:gd name="adj" fmla="val 7500"/>
            </a:avLst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8920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dimensão por vez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69164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9202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Grid — uma planta baixa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246888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linhas E colunas ao mesmo tempo — como desenhar a planta baixa de uma casa inteira antes de decorar cada cômodo.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46520" y="3886200"/>
            <a:ext cx="4800600" cy="411480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6520" y="4389120"/>
            <a:ext cx="1344168" cy="822960"/>
          </a:xfrm>
          <a:prstGeom prst="roundRect">
            <a:avLst>
              <a:gd name="adj" fmla="val 5556"/>
            </a:avLst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7982712" y="4389120"/>
            <a:ext cx="3264408" cy="822960"/>
          </a:xfrm>
          <a:prstGeom prst="roundRect">
            <a:avLst>
              <a:gd name="adj" fmla="val 5556"/>
            </a:avLst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6520" y="5303520"/>
            <a:ext cx="4800600" cy="411480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53949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dimensões simultâneas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· CÓDIGO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grid-container, propriedade por propriedade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035040" cy="4480560"/>
          </a:xfrm>
          <a:prstGeom prst="roundRect">
            <a:avLst>
              <a:gd name="adj" fmla="val 1633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09344"/>
            <a:ext cx="5632704" cy="4187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.grid-container {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 200px 1fr;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grid-template-rows: auto 1fr auto;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grid-template-areas: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"header header"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"menu   main"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"footer footer";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10px;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12280" y="146304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6995160" y="15544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grid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95160" y="190195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o elemento em um contêiner de grid.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12280" y="256032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995160" y="26517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200px 1fr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95160" y="299923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com largura fixa + conteúdo ocupando o resto.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12280" y="365760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6995160" y="37490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grid-template-areas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95160" y="409651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nome às regiões — header/footer atravessam as 2 colunas.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12280" y="475488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995160" y="48463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gap: 10px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95160" y="51937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entre itens, sem duplicar margin.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· RESPONSIVIDADE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mesmo grid, duas telas diferentes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grande  (&gt; 768px)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2331720"/>
            <a:ext cx="4206240" cy="411480"/>
          </a:xfrm>
          <a:prstGeom prst="roundRect">
            <a:avLst>
              <a:gd name="adj" fmla="val 11111"/>
            </a:avLst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3317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80160" y="2834640"/>
            <a:ext cx="1177747" cy="1280160"/>
          </a:xfrm>
          <a:prstGeom prst="roundRect">
            <a:avLst>
              <a:gd name="adj" fmla="val 3882"/>
            </a:avLst>
          </a:prstGeom>
          <a:solidFill>
            <a:srgbClr val="3B82C4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834640"/>
            <a:ext cx="1177747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26157" y="2834640"/>
            <a:ext cx="2860243" cy="1280160"/>
          </a:xfrm>
          <a:prstGeom prst="roundRect">
            <a:avLst>
              <a:gd name="adj" fmla="val 3571"/>
            </a:avLst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2626157" y="2834640"/>
            <a:ext cx="2860243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280160" y="4206240"/>
            <a:ext cx="4206240" cy="411480"/>
          </a:xfrm>
          <a:prstGeom prst="roundRect">
            <a:avLst>
              <a:gd name="adj" fmla="val 11111"/>
            </a:avLst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42062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46520" y="1737360"/>
            <a:ext cx="2194560" cy="329184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5897880" y="1874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pequena  (≤ 768px)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75120" y="233172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2331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75120" y="2788920"/>
            <a:ext cx="1737360" cy="1417320"/>
          </a:xfrm>
          <a:prstGeom prst="roundRect">
            <a:avLst>
              <a:gd name="adj" fmla="val 3226"/>
            </a:avLst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2788920"/>
            <a:ext cx="1737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0" y="429768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4297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06840" y="173736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08008" y="1883664"/>
            <a:ext cx="2249424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(max-width: 768px)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.grid-container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grid-template-columns: 1fr;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grid-template-areas: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"header" "main" "footer";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.menu { display: none;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" y="5257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menu não “encolhe” — ele deixa de existir no fluxo, e o main passa a ocupar 100% da largura. O HTML não muda, só a disposição visual.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1920240"/>
            <a:ext cx="5120640" cy="5120640"/>
          </a:xfrm>
          <a:prstGeom prst="ellipse">
            <a:avLst/>
          </a:prstGeom>
          <a:solidFill>
            <a:srgbClr val="16212F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331720"/>
            <a:ext cx="1371600" cy="13716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5" name="Image 0" descr="/home/claude/icon-to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68833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· QUALIDADE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425196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Prettier, ESLint e Babel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22960" y="5166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Deixando o código pronto para um time inteiro trabalhar nele.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· FLUXO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linha de produção para o seu código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1485900" y="2240280"/>
            <a:ext cx="731520" cy="73152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6" name="Image 0" descr="/home/claude/icon-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095" y="243047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1546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Escrever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365760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 moderna (ES6+), sem se preocupar com compatibilidade.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136392" y="23774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3374136" y="196596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E293B"/>
          </a:solidFill>
          <a:ln/>
        </p:spPr>
      </p:sp>
      <p:sp>
        <p:nvSpPr>
          <p:cNvPr id="11" name="Shape 8"/>
          <p:cNvSpPr/>
          <p:nvPr/>
        </p:nvSpPr>
        <p:spPr>
          <a:xfrm>
            <a:off x="4311396" y="224028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2" name="Image 1" descr="/home/claude/icon-mag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591" y="243047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11296" y="31546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Prettier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602736" y="365760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Formata: indentação, aspas, espaçamento. Cuida da forma.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961888" y="23774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6199632" y="196596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E293B"/>
          </a:solidFill>
          <a:ln/>
        </p:spPr>
      </p:sp>
      <p:sp>
        <p:nvSpPr>
          <p:cNvPr id="17" name="Shape 13"/>
          <p:cNvSpPr/>
          <p:nvPr/>
        </p:nvSpPr>
        <p:spPr>
          <a:xfrm>
            <a:off x="7136892" y="2240280"/>
            <a:ext cx="731520" cy="73152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8" name="Image 2" descr="/home/claude/icon-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087" y="243047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36792" y="31546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ESLint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6428232" y="365760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 e corrige erros de lógica e más práticas. Cuida do conteúdo.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787384" y="23774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22" name="Shape 17"/>
          <p:cNvSpPr/>
          <p:nvPr/>
        </p:nvSpPr>
        <p:spPr>
          <a:xfrm>
            <a:off x="9025128" y="196596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E293B"/>
          </a:solidFill>
          <a:ln/>
        </p:spPr>
      </p:sp>
      <p:sp>
        <p:nvSpPr>
          <p:cNvPr id="23" name="Shape 18"/>
          <p:cNvSpPr/>
          <p:nvPr/>
        </p:nvSpPr>
        <p:spPr>
          <a:xfrm>
            <a:off x="9962388" y="2240280"/>
            <a:ext cx="731520" cy="731520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24" name="Image 3" descr="/home/claude/icon-exch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2583" y="2430475"/>
            <a:ext cx="351130" cy="35113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62288" y="31546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Babel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9253728" y="365760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 para ES5, compatível com navegadores antigos.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Babel entra por último: ele só traduz sintaxe. Rodá-lo antes de organizar o código só produziria uma tradução fiel de um código bagunçado.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· CÓDIGO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e depois de Prettier + ESLint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157984"/>
            <a:ext cx="4946904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usuario={nome:"Pedro",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idade:28,ativo:true}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validar(x){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if(x)return true;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return false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console.log('Resultado: '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+resultado);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1508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201168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2157984"/>
            <a:ext cx="4946904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usuario = 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nome: 'Pedro',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idade: 28,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ativo: true,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validar(x) 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x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console.log(usuario.nome)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1920240"/>
            <a:ext cx="5120640" cy="5120640"/>
          </a:xfrm>
          <a:prstGeom prst="ellipse">
            <a:avLst/>
          </a:prstGeom>
          <a:solidFill>
            <a:srgbClr val="16212F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331720"/>
            <a:ext cx="1371600" cy="137160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5" name="Image 0" descr="/home/claude/icon-sp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68833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· VELOCIDADE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425196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Lazy loading, minificação e Lighthouse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22960" y="5166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Fazendo o site abrir rápido, até no 4G do ônibus.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· MÉTRICAS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Vitals: como o Google mede velocidade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2,5s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Contentful Paint — tempo até o maior elemento visível aparecer.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19659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17720" y="22860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200ms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617720" y="329184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to Next Paint — resposta a cliques/toques durante toda a visita.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19659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12480" y="22860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0,1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412480" y="329184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Layout Shift — estabilidade visual durante o carregamento.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16212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029200"/>
            <a:ext cx="777240" cy="7772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8" name="Image 0" descr="/home/claude/icon-exch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" y="5231282"/>
            <a:ext cx="373075" cy="37307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691640" y="4937760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Atualização: </a:t>
            </a:r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março de 2024 o Google substituiu oficialmente a métrica FID pela INP. Se um material citar “FID” como uma das 3 métricas principais, ele está desatualizado.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· TÉCNICAS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Carregar sob demanda e comprimir o essencial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Lazy loading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112264"/>
            <a:ext cx="490118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imagem da galeria (não é a 1ª) --&gt;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src="curso-python.jpg"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alt="Curso de Python"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loading="lazy"&gt;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5303520" cy="1417320"/>
          </a:xfrm>
          <a:prstGeom prst="roundRect">
            <a:avLst>
              <a:gd name="adj" fmla="val 6452"/>
            </a:avLst>
          </a:prstGeom>
          <a:solidFill>
            <a:srgbClr val="16212F"/>
          </a:solidFill>
          <a:ln w="1524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65760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Cuidado: </a:t>
            </a:r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use loading="lazy" na primeira imagem “acima da dobra” — isso adia justamente o elemento que define o LCP.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6364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Minificação de CSS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63640" y="1965960"/>
            <a:ext cx="5303520" cy="297180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0" y="2880360"/>
            <a:ext cx="1463040" cy="1737360"/>
          </a:xfrm>
          <a:prstGeom prst="roundRect">
            <a:avLst>
              <a:gd name="adj" fmla="val 3125"/>
            </a:avLst>
          </a:prstGeom>
          <a:solidFill>
            <a:srgbClr val="F87171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 bytes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4690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3703320"/>
            <a:ext cx="1463040" cy="914400"/>
          </a:xfrm>
          <a:prstGeom prst="roundRect">
            <a:avLst>
              <a:gd name="adj" fmla="val 5000"/>
            </a:avLst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~130 bytes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78240" y="4690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minificado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4420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48% menor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FINAL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Day — pronto para o cliente?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TechNova herdou o site de uma cafeteria fictícia, a Grão &amp; Cia — com todos os problemas da semana. Em duplas, deixem o site pronto para o cliente.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7315200" cy="749808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267712"/>
            <a:ext cx="512064" cy="512064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7" name="Image 0" descr="/home/claude/icon-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369" y="2400849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148840"/>
            <a:ext cx="5120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com CSS Grid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92240" y="2148840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pts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3044952"/>
            <a:ext cx="7315200" cy="749808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/>
        </p:spPr>
      </p:sp>
      <p:sp>
        <p:nvSpPr>
          <p:cNvPr id="11" name="Shape 8"/>
          <p:cNvSpPr/>
          <p:nvPr/>
        </p:nvSpPr>
        <p:spPr>
          <a:xfrm>
            <a:off x="713232" y="3163824"/>
            <a:ext cx="512064" cy="512064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2" name="Image 1" descr="/home/claude/icon-too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69" y="3296961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3044952"/>
            <a:ext cx="5120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do código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92240" y="3044952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pts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3941064"/>
            <a:ext cx="7315200" cy="749808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/>
        </p:spPr>
      </p:sp>
      <p:sp>
        <p:nvSpPr>
          <p:cNvPr id="16" name="Shape 12"/>
          <p:cNvSpPr/>
          <p:nvPr/>
        </p:nvSpPr>
        <p:spPr>
          <a:xfrm>
            <a:off x="713232" y="4059936"/>
            <a:ext cx="512064" cy="512064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7" name="Image 2" descr="/home/claude/icon-spe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9" y="4193073"/>
            <a:ext cx="245791" cy="24579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941064"/>
            <a:ext cx="5120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otimizada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92240" y="3941064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pts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548640" y="4837176"/>
            <a:ext cx="7315200" cy="749808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/>
        </p:spPr>
      </p:sp>
      <p:sp>
        <p:nvSpPr>
          <p:cNvPr id="21" name="Shape 16"/>
          <p:cNvSpPr/>
          <p:nvPr/>
        </p:nvSpPr>
        <p:spPr>
          <a:xfrm>
            <a:off x="713232" y="4956048"/>
            <a:ext cx="512064" cy="512064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22" name="Image 3" descr="/home/claude/icon-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369" y="5089185"/>
            <a:ext cx="245791" cy="24579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1600" y="4837176"/>
            <a:ext cx="5120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entrega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492240" y="4837176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pts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8183880" y="2148840"/>
            <a:ext cx="3429000" cy="3520440"/>
          </a:xfrm>
          <a:prstGeom prst="roundRect">
            <a:avLst>
              <a:gd name="adj" fmla="val 2667"/>
            </a:avLst>
          </a:prstGeom>
          <a:solidFill>
            <a:srgbClr val="16212F"/>
          </a:solidFill>
          <a:ln w="15240">
            <a:solidFill>
              <a:srgbClr val="F87171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412480" y="2377440"/>
            <a:ext cx="640080" cy="640080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27" name="Image 4" descr="/home/claude/icon-targ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8901" y="2543861"/>
            <a:ext cx="307238" cy="30723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412480" y="3108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Bônus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8412480" y="352044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Menu-hambúrguer animado
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Segundo breakpoint (tablet)
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Tema claro/escuro com CSS vars
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fetchpriority="high" no hero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E293B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5" name="Image 0" descr="/home/claude/icon-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1576" y="172821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Missão cumprida?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463040" y="3977640"/>
            <a:ext cx="9235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responsivo · código limpo · site rápido — o site da TechNova (e o de vocês) está pronto para produção.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2026-07-28T15:18:58Z</dcterms:created>
  <dcterms:modified xsi:type="dcterms:W3CDTF">2026-07-28T15:18:58Z</dcterms:modified>
</cp:coreProperties>
</file>